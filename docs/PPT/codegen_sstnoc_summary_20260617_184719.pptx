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今天我向您汇报的是 CIM-TileIR 代码生成系统项目。这是一个面向 RISC-V CIM 多核硬件仿真的编译器侧原型，核心思路是通过定义统一的中间表示接口契约，将前端编程语言与后端硬件仿真脚本彻底解耦。接下来我会从系统架构和设计原则两个方面展开介绍。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整个系统的架构可以理解为三层流水线加六大核心模块。最上层是前端语言层，目前以 TileLang DSL 作为首个前端，通过 Python AST 分析自动提取计算图。中间是 CIM-TileIR 中间表示层，采用 JSON Schema 定义了标准化的 GEMM 计算描述，包括 Builder 构建器和 Checker 校验器。底层是 Golem SST 硬件后端，负责将 IR 转化为 SST 仿真所需的环境变量脚本、操作描述符和事件规划。六大核心模块各司其职，从构建、校验、提取，到硬件约束、导出和任务映射，形成了一条完整的编译器流水线。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这个项目在设计上遵循三个核心原则。第一是接口契约优先，CIM-TileIR 是唯一的接口标准，任何前端语言只要输出符合 Schema 的 JSON 就能接入，后端完全不依赖前端语法。第二是关注点分离，项目中枢与源码分离，代码生成工件与硬件仓库分离，每一层只关心自己的输入输出契约。第三是安全第一的工程实践，SST 仿真默认采用 Dry-Run 模式避免意外触发长时间仿真，所有工具链路径来自用户环境而非硬编码，并且有静态审计脚本确保硬件侧的解耦入口点完整自洽。整个项目还配备了完整的测试验证体系，包括 pytest 单元测试、集成测试和多种验证脚本。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D6FE0">
                  <a:alpha val="10000"/>
                </a:srgbClr>
              </a:gs>
              <a:gs pos="50000">
                <a:srgbClr val="2D6FE0">
                  <a:alpha val="3000"/>
                </a:srgbClr>
              </a:gs>
              <a:gs pos="100000">
                <a:srgbClr val="0A16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3429000" y="190500"/>
            <a:ext cx="5334000" cy="5334000"/>
          </a:xfrm>
          <a:prstGeom prst="ellipse">
            <a:avLst/>
          </a:prstGeom>
          <a:gradFill>
            <a:gsLst>
              <a:gs pos="0">
                <a:srgbClr val="4DA8FF">
                  <a:alpha val="12000"/>
                </a:srgbClr>
              </a:gs>
              <a:gs pos="100000">
                <a:srgbClr val="0A16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Line 5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3350">
                  <a:alpha val="3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3350">
                  <a:alpha val="3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E3350">
                  <a:alpha val="3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E3350">
                  <a:alpha val="3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E3350">
                  <a:alpha val="3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E3350">
                  <a:alpha val="30000"/>
                </a:srgb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477500" y="647700"/>
            <a:ext cx="381000" cy="419100"/>
            <a:chOff x="10477500" y="647700"/>
            <a:chExt cx="381000" cy="419100"/>
          </a:xfrm>
        </p:grpSpPr>
        <p:sp>
          <p:nvSpPr>
            <p:cNvPr id="12" name="Polygon 12"/>
            <p:cNvSpPr/>
            <p:nvPr/>
          </p:nvSpPr>
          <p:spPr>
            <a:xfrm>
              <a:off x="10477500" y="647700"/>
              <a:ext cx="381000" cy="419100"/>
            </a:xfrm>
            <a:custGeom>
              <a:avLst/>
              <a:gdLst/>
              <a:ahLst/>
              <a:cxnLst/>
              <a:rect l="l" t="t" r="r" b="b"/>
              <a:pathLst>
                <a:path w="381000" h="419100">
                  <a:moveTo>
                    <a:pt x="0" y="114300"/>
                  </a:moveTo>
                  <a:lnTo>
                    <a:pt x="190500" y="0"/>
                  </a:lnTo>
                  <a:lnTo>
                    <a:pt x="381000" y="114300"/>
                  </a:lnTo>
                  <a:lnTo>
                    <a:pt x="381000" y="304800"/>
                  </a:lnTo>
                  <a:lnTo>
                    <a:pt x="190500" y="41910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14288">
              <a:solidFill>
                <a:srgbClr val="2D6FE0">
                  <a:alpha val="40000"/>
                </a:srgb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639425" y="828675"/>
              <a:ext cx="57150" cy="57150"/>
            </a:xfrm>
            <a:prstGeom prst="ellipse">
              <a:avLst/>
            </a:prstGeom>
            <a:solidFill>
              <a:srgbClr val="4DA8FF">
                <a:alpha val="500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33450" y="5886450"/>
            <a:ext cx="552450" cy="38100"/>
            <a:chOff x="933450" y="5886450"/>
            <a:chExt cx="552450" cy="38100"/>
          </a:xfrm>
        </p:grpSpPr>
        <p:sp>
          <p:nvSpPr>
            <p:cNvPr id="15" name="Ellipse 15"/>
            <p:cNvSpPr/>
            <p:nvPr/>
          </p:nvSpPr>
          <p:spPr>
            <a:xfrm>
              <a:off x="933450" y="5886450"/>
              <a:ext cx="38100" cy="38100"/>
            </a:xfrm>
            <a:prstGeom prst="ellipse">
              <a:avLst/>
            </a:prstGeom>
            <a:solidFill>
              <a:srgbClr val="2D6FE0">
                <a:alpha val="30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223962" y="5891212"/>
              <a:ext cx="28575" cy="28575"/>
            </a:xfrm>
            <a:prstGeom prst="ellipse">
              <a:avLst/>
            </a:prstGeom>
            <a:solidFill>
              <a:srgbClr val="2D6FE0">
                <a:alpha val="20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466850" y="5895975"/>
              <a:ext cx="19050" cy="19050"/>
            </a:xfrm>
            <a:prstGeom prst="ellipse">
              <a:avLst/>
            </a:prstGeom>
            <a:solidFill>
              <a:srgbClr val="2D6FE0">
                <a:alpha val="15000"/>
              </a:srgbClr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2808256" y="2451735"/>
            <a:ext cx="6575489" cy="853440"/>
            <a:chOff x="2808256" y="2451735"/>
            <a:chExt cx="6575489" cy="853440"/>
          </a:xfrm>
        </p:grpSpPr>
        <p:sp>
          <p:nvSpPr>
            <p:cNvPr id="19" name="TextBox 19"/>
            <p:cNvSpPr txBox="1"/>
            <p:nvPr/>
          </p:nvSpPr>
          <p:spPr>
            <a:xfrm>
              <a:off x="2808256" y="2451735"/>
              <a:ext cx="657548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D8DFE8"/>
                  </a:solidFill>
                  <a:effectLst>
                    <a:glow rad="38100">
                      <a:srgbClr val="4DA8FF">
                        <a:alpha val="40000"/>
                      </a:srgbClr>
                    </a:glow>
                  </a:effectLst>
                  <a:latin typeface="Arial"/>
                  <a:ea typeface="SimHei"/>
                  <a:cs typeface="Arial"/>
                </a:rPr>
                <a:t>CIM-TileIR 代码生成系统</a:t>
              </a:r>
            </a:p>
          </p:txBody>
        </p:sp>
      </p:grpSp>
      <p:sp>
        <p:nvSpPr>
          <p:cNvPr id="21" name="Rectangle 21"/>
          <p:cNvSpPr/>
          <p:nvPr/>
        </p:nvSpPr>
        <p:spPr>
          <a:xfrm>
            <a:off x="4191000" y="3143250"/>
            <a:ext cx="38100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D6FE0">
                  <a:alpha val="0"/>
                </a:srgbClr>
              </a:gs>
              <a:gs pos="50000">
                <a:srgbClr val="4DA8FF">
                  <a:alpha val="80000"/>
                </a:srgbClr>
              </a:gs>
              <a:gs pos="100000">
                <a:srgbClr val="2D6FE0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3594235" y="3393758"/>
            <a:ext cx="5003530" cy="335280"/>
            <a:chOff x="3594235" y="3393758"/>
            <a:chExt cx="5003530" cy="335280"/>
          </a:xfrm>
        </p:grpSpPr>
        <p:sp>
          <p:nvSpPr>
            <p:cNvPr id="22" name="TextBox 22"/>
            <p:cNvSpPr txBox="1"/>
            <p:nvPr/>
          </p:nvSpPr>
          <p:spPr>
            <a:xfrm>
              <a:off x="3594235" y="3393758"/>
              <a:ext cx="50035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899AA"/>
                  </a:solidFill>
                  <a:effectLst>
                    <a:glow rad="19050">
                      <a:srgbClr val="2D6FE0">
                        <a:alpha val="25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面向 RISC-V CIM 多核硬件仿真的编译器侧原型项目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96487" y="3966210"/>
            <a:ext cx="4399026" cy="243840"/>
            <a:chOff x="3896487" y="3966210"/>
            <a:chExt cx="4399026" cy="243840"/>
          </a:xfrm>
        </p:grpSpPr>
        <p:sp>
          <p:nvSpPr>
            <p:cNvPr id="24" name="TextBox 24"/>
            <p:cNvSpPr txBox="1"/>
            <p:nvPr/>
          </p:nvSpPr>
          <p:spPr>
            <a:xfrm>
              <a:off x="3896487" y="3966210"/>
              <a:ext cx="4399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56677"/>
                  </a:solidFill>
                  <a:latin typeface="Arial"/>
                  <a:ea typeface="Microsoft YaHei"/>
                  <a:cs typeface="Arial"/>
                </a:rPr>
                <a:t>以 CIM-TileIR 为统一接口契约，解耦前端语言与后端硬件仿真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6191250"/>
            <a:ext cx="11049000" cy="433388"/>
            <a:chOff x="571500" y="6191250"/>
            <a:chExt cx="11049000" cy="433388"/>
          </a:xfrm>
        </p:grpSpPr>
        <p:sp>
          <p:nvSpPr>
            <p:cNvPr id="26" name="Line 26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E3350">
                  <a:alpha val="5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58074" y="641127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56677"/>
                  </a:solidFill>
                  <a:latin typeface="Arial"/>
                  <a:ea typeface="Microsoft YaHei"/>
                  <a:cs typeface="Arial"/>
                </a:rPr>
                <a:t>课题组项目汇报 · 2026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477054" y="64274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56677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D6FE0">
                  <a:alpha val="6000"/>
                </a:srgbClr>
              </a:gs>
              <a:gs pos="100000">
                <a:srgbClr val="0A16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4830" y="297180"/>
            <a:ext cx="6026705" cy="714851"/>
            <a:chOff x="544830" y="297180"/>
            <a:chExt cx="6026705" cy="714851"/>
          </a:xfrm>
        </p:grpSpPr>
        <p:sp>
          <p:nvSpPr>
            <p:cNvPr id="4" name="TextBox 4"/>
            <p:cNvSpPr txBox="1"/>
            <p:nvPr/>
          </p:nvSpPr>
          <p:spPr>
            <a:xfrm>
              <a:off x="544830" y="297180"/>
              <a:ext cx="505196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8DFE8"/>
                  </a:solidFill>
                  <a:latin typeface="Arial"/>
                  <a:ea typeface="SimHei"/>
                  <a:cs typeface="Arial"/>
                </a:rPr>
                <a:t>系统架构：三层流水线与六大核心模块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619125"/>
              <a:ext cx="5715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D6FE0"/>
                </a:gs>
                <a:gs pos="100000">
                  <a:srgbClr val="4DA8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7212" y="783431"/>
              <a:ext cx="60143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CIM-TileIR 作为唯一接口契约，实现 前端语言 → 中间表示 → 硬件后端 的完整编译器流水线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1190625"/>
            <a:ext cx="11049000" cy="762000"/>
            <a:chOff x="571500" y="1190625"/>
            <a:chExt cx="11049000" cy="762000"/>
          </a:xfrm>
        </p:grpSpPr>
        <p:grpSp>
          <p:nvGrpSpPr>
            <p:cNvPr id="15" name="Group 15"/>
            <p:cNvGrpSpPr/>
            <p:nvPr/>
          </p:nvGrpSpPr>
          <p:grpSpPr>
            <a:xfrm>
              <a:off x="571500" y="1190625"/>
              <a:ext cx="3238500" cy="762000"/>
              <a:chOff x="571500" y="1190625"/>
              <a:chExt cx="3238500" cy="762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190625"/>
                <a:ext cx="3238500" cy="762000"/>
              </a:xfrm>
              <a:prstGeom prst="roundRect">
                <a:avLst>
                  <a:gd name="adj" fmla="val 7500"/>
                </a:avLst>
              </a:prstGeom>
              <a:solidFill>
                <a:srgbClr val="111D32"/>
              </a:solidFill>
              <a:ln w="9525">
                <a:solidFill>
                  <a:srgbClr val="1E3350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19416" y="1327785"/>
                <a:ext cx="15426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4DA8FF"/>
                    </a:solidFill>
                    <a:latin typeface="Arial"/>
                    <a:ea typeface="SimHei"/>
                    <a:cs typeface="Arial"/>
                  </a:rPr>
                  <a:t>第一层：前端语言层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86229" y="1582102"/>
                <a:ext cx="30090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899AA"/>
                    </a:solidFill>
                    <a:latin typeface="Arial"/>
                    <a:ea typeface="Microsoft YaHei"/>
                    <a:cs typeface="Arial"/>
                  </a:rPr>
                  <a:t>TileLang DSL · AST 自动提取 · Python inspect</a:t>
                </a:r>
              </a:p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788194" y="1435100"/>
                <a:ext cx="157162" cy="139700"/>
                <a:chOff x="788194" y="1435100"/>
                <a:chExt cx="157162" cy="1397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788194" y="1470025"/>
                  <a:ext cx="34925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69850">
                      <a:moveTo>
                        <a:pt x="34925" y="0"/>
                      </a:moveTo>
                      <a:lnTo>
                        <a:pt x="0" y="34925"/>
                      </a:lnTo>
                      <a:lnTo>
                        <a:pt x="34925" y="69850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10431" y="1470025"/>
                  <a:ext cx="34925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69850">
                      <a:moveTo>
                        <a:pt x="0" y="0"/>
                      </a:moveTo>
                      <a:lnTo>
                        <a:pt x="34925" y="34925"/>
                      </a:lnTo>
                      <a:lnTo>
                        <a:pt x="0" y="69850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49312" y="1435100"/>
                  <a:ext cx="349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139700">
                      <a:moveTo>
                        <a:pt x="34925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</p:grpSp>
        </p:grpSp>
        <p:grpSp>
          <p:nvGrpSpPr>
            <p:cNvPr id="18" name="Group 18"/>
            <p:cNvGrpSpPr/>
            <p:nvPr/>
          </p:nvGrpSpPr>
          <p:grpSpPr>
            <a:xfrm>
              <a:off x="3905250" y="1524000"/>
              <a:ext cx="590550" cy="95250"/>
              <a:chOff x="3905250" y="1524000"/>
              <a:chExt cx="590550" cy="95250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3905250" y="1571625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19050">
                <a:gradFill>
                  <a:gsLst>
                    <a:gs pos="0">
                      <a:srgbClr val="2D6FE0">
                        <a:alpha val="50000"/>
                      </a:srgbClr>
                    </a:gs>
                    <a:gs pos="100000">
                      <a:srgbClr val="4DA8FF">
                        <a:alpha val="80000"/>
                      </a:srgbClr>
                    </a:gs>
                  </a:gsLst>
                  <a:lin ang="0" scaled="1"/>
                </a:gradFill>
              </a:ln>
            </p:spPr>
          </p:sp>
          <p:sp>
            <p:nvSpPr>
              <p:cNvPr id="17" name="Polygon 17"/>
              <p:cNvSpPr/>
              <p:nvPr/>
            </p:nvSpPr>
            <p:spPr>
              <a:xfrm>
                <a:off x="4381500" y="1524000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>
                    <a:moveTo>
                      <a:pt x="0" y="0"/>
                    </a:moveTo>
                    <a:lnTo>
                      <a:pt x="11430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4DA8FF">
                  <a:alpha val="80000"/>
                </a:srgbClr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4572000" y="1190625"/>
              <a:ext cx="3238500" cy="762000"/>
              <a:chOff x="4572000" y="1190625"/>
              <a:chExt cx="3238500" cy="762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572000" y="1190625"/>
                <a:ext cx="3238500" cy="762000"/>
              </a:xfrm>
              <a:prstGeom prst="roundRect">
                <a:avLst>
                  <a:gd name="adj" fmla="val 7500"/>
                </a:avLst>
              </a:prstGeom>
              <a:solidFill>
                <a:srgbClr val="111D32"/>
              </a:solidFill>
              <a:ln w="14288">
                <a:solidFill>
                  <a:srgbClr val="2D6FE0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572000" y="1190625"/>
                <a:ext cx="3238500" cy="762000"/>
              </a:xfrm>
              <a:prstGeom prst="roundRect">
                <a:avLst>
                  <a:gd name="adj" fmla="val 7500"/>
                </a:avLst>
              </a:prstGeom>
              <a:noFill/>
              <a:ln w="9525">
                <a:solidFill>
                  <a:srgbClr val="2D6FE0">
                    <a:alpha val="40000"/>
                  </a:srgbClr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083874" y="1327785"/>
                <a:ext cx="221475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4DA8FF"/>
                    </a:solidFill>
                    <a:effectLst>
                      <a:glow rad="28575">
                        <a:srgbClr val="2D6FE0">
                          <a:alpha val="15000"/>
                        </a:srgbClr>
                      </a:glow>
                    </a:effectLst>
                    <a:latin typeface="Arial"/>
                    <a:ea typeface="SimHei"/>
                    <a:cs typeface="Arial"/>
                  </a:rPr>
                  <a:t>第二层：CIM-TileIR 中间表示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756737" y="1582102"/>
                <a:ext cx="28690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899AA"/>
                    </a:solidFill>
                    <a:latin typeface="Arial"/>
                    <a:ea typeface="Microsoft YaHei"/>
                    <a:cs typeface="Arial"/>
                  </a:rPr>
                  <a:t>JSON Schema · Builder 构建 · Checker 校验</a:t>
                </a:r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4797425" y="1435100"/>
                <a:ext cx="139700" cy="139700"/>
                <a:chOff x="4797425" y="1435100"/>
                <a:chExt cx="139700" cy="1397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797425" y="1435100"/>
                  <a:ext cx="139700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139700">
                      <a:moveTo>
                        <a:pt x="104775" y="104775"/>
                      </a:moveTo>
                      <a:lnTo>
                        <a:pt x="104775" y="122238"/>
                      </a:lnTo>
                      <a:cubicBezTo>
                        <a:pt x="104775" y="131882"/>
                        <a:pt x="96957" y="139700"/>
                        <a:pt x="87313" y="139700"/>
                      </a:cubicBezTo>
                      <a:lnTo>
                        <a:pt x="17462" y="139700"/>
                      </a:lnTo>
                      <a:cubicBezTo>
                        <a:pt x="7818" y="139700"/>
                        <a:pt x="0" y="131882"/>
                        <a:pt x="0" y="122238"/>
                      </a:cubicBezTo>
                      <a:lnTo>
                        <a:pt x="0" y="52388"/>
                      </a:lnTo>
                      <a:cubicBezTo>
                        <a:pt x="0" y="42743"/>
                        <a:pt x="7818" y="34925"/>
                        <a:pt x="17462" y="34925"/>
                      </a:cubicBezTo>
                      <a:lnTo>
                        <a:pt x="34925" y="34925"/>
                      </a:lnTo>
                      <a:lnTo>
                        <a:pt x="34925" y="17463"/>
                      </a:lnTo>
                      <a:cubicBezTo>
                        <a:pt x="34925" y="7818"/>
                        <a:pt x="42743" y="0"/>
                        <a:pt x="52388" y="0"/>
                      </a:cubicBezTo>
                      <a:lnTo>
                        <a:pt x="122237" y="0"/>
                      </a:lnTo>
                      <a:cubicBezTo>
                        <a:pt x="131882" y="0"/>
                        <a:pt x="139700" y="7818"/>
                        <a:pt x="139700" y="17463"/>
                      </a:cubicBezTo>
                      <a:lnTo>
                        <a:pt x="139700" y="87313"/>
                      </a:lnTo>
                      <a:cubicBezTo>
                        <a:pt x="139700" y="96957"/>
                        <a:pt x="131882" y="104775"/>
                        <a:pt x="122237" y="104775"/>
                      </a:cubicBezTo>
                      <a:lnTo>
                        <a:pt x="104775" y="104775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832350" y="1470025"/>
                  <a:ext cx="17463" cy="17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17462">
                      <a:moveTo>
                        <a:pt x="17463" y="0"/>
                      </a:moveTo>
                      <a:lnTo>
                        <a:pt x="0" y="0"/>
                      </a:lnTo>
                      <a:lnTo>
                        <a:pt x="0" y="17462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832350" y="1522412"/>
                  <a:ext cx="17463" cy="17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17462">
                      <a:moveTo>
                        <a:pt x="0" y="0"/>
                      </a:moveTo>
                      <a:lnTo>
                        <a:pt x="0" y="17462"/>
                      </a:lnTo>
                      <a:lnTo>
                        <a:pt x="17463" y="17462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884738" y="1470025"/>
                  <a:ext cx="17462" cy="17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" h="17462">
                      <a:moveTo>
                        <a:pt x="0" y="0"/>
                      </a:moveTo>
                      <a:lnTo>
                        <a:pt x="17462" y="0"/>
                      </a:lnTo>
                      <a:lnTo>
                        <a:pt x="17462" y="17462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884738" y="1522412"/>
                  <a:ext cx="17462" cy="17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" h="17462">
                      <a:moveTo>
                        <a:pt x="17462" y="0"/>
                      </a:moveTo>
                      <a:lnTo>
                        <a:pt x="17462" y="17462"/>
                      </a:lnTo>
                      <a:lnTo>
                        <a:pt x="0" y="17462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</p:grpSp>
        </p:grpSp>
        <p:grpSp>
          <p:nvGrpSpPr>
            <p:cNvPr id="32" name="Group 32"/>
            <p:cNvGrpSpPr/>
            <p:nvPr/>
          </p:nvGrpSpPr>
          <p:grpSpPr>
            <a:xfrm>
              <a:off x="7905750" y="1524000"/>
              <a:ext cx="590550" cy="95250"/>
              <a:chOff x="7905750" y="1524000"/>
              <a:chExt cx="590550" cy="95250"/>
            </a:xfrm>
          </p:grpSpPr>
          <p:sp>
            <p:nvSpPr>
              <p:cNvPr id="30" name="Line 30"/>
              <p:cNvSpPr/>
              <p:nvPr/>
            </p:nvSpPr>
            <p:spPr>
              <a:xfrm>
                <a:off x="7905750" y="1571625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19050">
                <a:gradFill>
                  <a:gsLst>
                    <a:gs pos="0">
                      <a:srgbClr val="2D6FE0">
                        <a:alpha val="50000"/>
                      </a:srgbClr>
                    </a:gs>
                    <a:gs pos="100000">
                      <a:srgbClr val="4DA8FF">
                        <a:alpha val="80000"/>
                      </a:srgbClr>
                    </a:gs>
                  </a:gsLst>
                  <a:lin ang="0" scaled="1"/>
                </a:gradFill>
              </a:ln>
            </p:spPr>
          </p:sp>
          <p:sp>
            <p:nvSpPr>
              <p:cNvPr id="31" name="Polygon 31"/>
              <p:cNvSpPr/>
              <p:nvPr/>
            </p:nvSpPr>
            <p:spPr>
              <a:xfrm>
                <a:off x="8382000" y="1524000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>
                    <a:moveTo>
                      <a:pt x="0" y="0"/>
                    </a:moveTo>
                    <a:lnTo>
                      <a:pt x="11430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4DA8FF">
                  <a:alpha val="80000"/>
                </a:srgbClr>
              </a:solidFill>
              <a:ln>
                <a:noFill/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8572500" y="1190625"/>
              <a:ext cx="3048000" cy="762000"/>
              <a:chOff x="8572500" y="1190625"/>
              <a:chExt cx="3048000" cy="7620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572500" y="1190625"/>
                <a:ext cx="3048000" cy="762000"/>
              </a:xfrm>
              <a:prstGeom prst="roundRect">
                <a:avLst>
                  <a:gd name="adj" fmla="val 7500"/>
                </a:avLst>
              </a:prstGeom>
              <a:solidFill>
                <a:srgbClr val="111D32"/>
              </a:solidFill>
              <a:ln w="9525">
                <a:solidFill>
                  <a:srgbClr val="1E3350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161345" y="1327785"/>
                <a:ext cx="187031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4DA8FF"/>
                    </a:solidFill>
                    <a:latin typeface="Arial"/>
                    <a:ea typeface="SimHei"/>
                    <a:cs typeface="Arial"/>
                  </a:rPr>
                  <a:t>第三层：Golem SST 后端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5523" y="1582102"/>
                <a:ext cx="23019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899AA"/>
                    </a:solidFill>
                    <a:latin typeface="Arial"/>
                    <a:ea typeface="Microsoft YaHei"/>
                    <a:cs typeface="Arial"/>
                  </a:rPr>
                  <a:t>环境变量导出 · 事件规划 · SST 仿真</a:t>
                </a:r>
              </a:p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8789194" y="1426369"/>
                <a:ext cx="157163" cy="157163"/>
                <a:chOff x="8789194" y="1426369"/>
                <a:chExt cx="157163" cy="157163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8806656" y="1443831"/>
                  <a:ext cx="122237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22237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113506" y="0"/>
                      </a:lnTo>
                      <a:cubicBezTo>
                        <a:pt x="118328" y="0"/>
                        <a:pt x="122237" y="3909"/>
                        <a:pt x="122237" y="8731"/>
                      </a:cubicBezTo>
                      <a:lnTo>
                        <a:pt x="122237" y="113506"/>
                      </a:lnTo>
                      <a:cubicBezTo>
                        <a:pt x="122237" y="118328"/>
                        <a:pt x="118328" y="122237"/>
                        <a:pt x="113506" y="122237"/>
                      </a:cubicBezTo>
                      <a:lnTo>
                        <a:pt x="8731" y="122237"/>
                      </a:lnTo>
                      <a:cubicBezTo>
                        <a:pt x="3909" y="122237"/>
                        <a:pt x="0" y="118328"/>
                        <a:pt x="0" y="113506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841581" y="1478756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0"/>
                      </a:lnTo>
                      <a:lnTo>
                        <a:pt x="52388" y="52388"/>
                      </a:lnTo>
                      <a:lnTo>
                        <a:pt x="0" y="5238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789194" y="1487488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0" y="0"/>
                      </a:moveTo>
                      <a:lnTo>
                        <a:pt x="17463" y="0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789194" y="1522412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0" y="0"/>
                      </a:moveTo>
                      <a:lnTo>
                        <a:pt x="17463" y="0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8850312" y="1426369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0"/>
                      </a:moveTo>
                      <a:lnTo>
                        <a:pt x="0" y="17463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885238" y="1426369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0"/>
                      </a:moveTo>
                      <a:lnTo>
                        <a:pt x="0" y="17463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8928894" y="1487488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1746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8928894" y="1522412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1746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885238" y="1566069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174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850312" y="1566069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174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D6FE0"/>
                  </a:solidFill>
                </a:ln>
              </p:spPr>
            </p:sp>
          </p:grpSp>
        </p:grpSp>
      </p:grpSp>
      <p:grpSp>
        <p:nvGrpSpPr>
          <p:cNvPr id="51" name="Group 51"/>
          <p:cNvGrpSpPr/>
          <p:nvPr/>
        </p:nvGrpSpPr>
        <p:grpSpPr>
          <a:xfrm>
            <a:off x="571500" y="2238375"/>
            <a:ext cx="11049000" cy="330994"/>
            <a:chOff x="571500" y="2238375"/>
            <a:chExt cx="11049000" cy="330994"/>
          </a:xfrm>
        </p:grpSpPr>
        <p:sp>
          <p:nvSpPr>
            <p:cNvPr id="49" name="Line 49"/>
            <p:cNvSpPr/>
            <p:nvPr/>
          </p:nvSpPr>
          <p:spPr>
            <a:xfrm>
              <a:off x="571500" y="2238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E3350">
                  <a:alpha val="50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93569" y="23712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56677"/>
                  </a:solidFill>
                  <a:latin typeface="Arial"/>
                  <a:ea typeface="Microsoft YaHei"/>
                  <a:cs typeface="Arial"/>
                </a:rPr>
                <a:t>六大核心模块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2619375"/>
            <a:ext cx="3524250" cy="1857375"/>
            <a:chOff x="571500" y="2619375"/>
            <a:chExt cx="3524250" cy="1857375"/>
          </a:xfrm>
        </p:grpSpPr>
        <p:sp>
          <p:nvSpPr>
            <p:cNvPr id="52" name="Rectangle 52"/>
            <p:cNvSpPr/>
            <p:nvPr/>
          </p:nvSpPr>
          <p:spPr>
            <a:xfrm>
              <a:off x="571500" y="2619375"/>
              <a:ext cx="3524250" cy="1857375"/>
            </a:xfrm>
            <a:prstGeom prst="roundRect">
              <a:avLst>
                <a:gd name="adj" fmla="val 4103"/>
              </a:avLst>
            </a:prstGeom>
            <a:solidFill>
              <a:srgbClr val="111D32"/>
            </a:solidFill>
            <a:ln w="9525">
              <a:solidFill>
                <a:srgbClr val="1E335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71500" y="2619375"/>
              <a:ext cx="3524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D6FE0"/>
                </a:gs>
                <a:gs pos="100000">
                  <a:srgbClr val="4DA8FF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76300" y="2886075"/>
              <a:ext cx="152400" cy="171450"/>
              <a:chOff x="876300" y="2886075"/>
              <a:chExt cx="152400" cy="17145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76300" y="288607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76200" y="0"/>
                    </a:moveTo>
                    <a:lnTo>
                      <a:pt x="152400" y="42862"/>
                    </a:lnTo>
                    <a:lnTo>
                      <a:pt x="152400" y="128588"/>
                    </a:lnTo>
                    <a:lnTo>
                      <a:pt x="76200" y="171450"/>
                    </a:lnTo>
                    <a:lnTo>
                      <a:pt x="0" y="128588"/>
                    </a:lnTo>
                    <a:lnTo>
                      <a:pt x="0" y="42862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D6FE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52500" y="292893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0" y="42862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D6FE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52500" y="297180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2D6FE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6300" y="292893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428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D6FE0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174432" y="2900839"/>
              <a:ext cx="12195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8DFE8"/>
                  </a:solidFill>
                  <a:latin typeface="Arial"/>
                  <a:ea typeface="SimHei"/>
                  <a:cs typeface="Arial"/>
                </a:rPr>
                <a:t>Builder 构建器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79195" y="31413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builder.py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4865" y="3410902"/>
              <a:ext cx="17348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从静态 GEMM 参数构建完整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4865" y="3601402"/>
              <a:ext cx="21479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CIM-TileIR 字典结构 — 内核类型、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4865" y="3791902"/>
              <a:ext cx="22249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Mesh 维度、Tile 尺寸、张量描述符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4333875" y="2619375"/>
            <a:ext cx="3524250" cy="1857375"/>
            <a:chOff x="4333875" y="2619375"/>
            <a:chExt cx="3524250" cy="1857375"/>
          </a:xfrm>
        </p:grpSpPr>
        <p:sp>
          <p:nvSpPr>
            <p:cNvPr id="65" name="Rectangle 65"/>
            <p:cNvSpPr/>
            <p:nvPr/>
          </p:nvSpPr>
          <p:spPr>
            <a:xfrm>
              <a:off x="4333875" y="2619375"/>
              <a:ext cx="3524250" cy="1857375"/>
            </a:xfrm>
            <a:prstGeom prst="roundRect">
              <a:avLst>
                <a:gd name="adj" fmla="val 4103"/>
              </a:avLst>
            </a:prstGeom>
            <a:solidFill>
              <a:srgbClr val="111D32"/>
            </a:solidFill>
            <a:ln w="9525">
              <a:solidFill>
                <a:srgbClr val="1E3350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4333875" y="2619375"/>
              <a:ext cx="3524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D6FE0"/>
                </a:gs>
                <a:gs pos="100000">
                  <a:srgbClr val="4DA8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4648200" y="29241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60C0A0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936808" y="2900839"/>
              <a:ext cx="13088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8DFE8"/>
                  </a:solidFill>
                  <a:latin typeface="Arial"/>
                  <a:ea typeface="SimHei"/>
                  <a:cs typeface="Arial"/>
                </a:rPr>
                <a:t>Checker 校验器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941570" y="3141345"/>
              <a:ext cx="682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checker.py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587240" y="3410902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CIM-TileIR Schema 验证，确保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587240" y="36014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Mesh/Tile 维度合法、张量完整、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587240" y="37919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操作序列顺序正确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96250" y="2619375"/>
            <a:ext cx="3524250" cy="1857375"/>
            <a:chOff x="8096250" y="2619375"/>
            <a:chExt cx="3524250" cy="1857375"/>
          </a:xfrm>
        </p:grpSpPr>
        <p:sp>
          <p:nvSpPr>
            <p:cNvPr id="74" name="Rectangle 74"/>
            <p:cNvSpPr/>
            <p:nvPr/>
          </p:nvSpPr>
          <p:spPr>
            <a:xfrm>
              <a:off x="8096250" y="2619375"/>
              <a:ext cx="3524250" cy="1857375"/>
            </a:xfrm>
            <a:prstGeom prst="roundRect">
              <a:avLst>
                <a:gd name="adj" fmla="val 4103"/>
              </a:avLst>
            </a:prstGeom>
            <a:solidFill>
              <a:srgbClr val="111D32"/>
            </a:solidFill>
            <a:ln w="9525">
              <a:solidFill>
                <a:srgbClr val="1E3350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8096250" y="2619375"/>
              <a:ext cx="3524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D6FE0"/>
                </a:gs>
                <a:gs pos="100000">
                  <a:srgbClr val="4DA8FF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8391525" y="2895600"/>
              <a:ext cx="171450" cy="152400"/>
              <a:chOff x="8391525" y="2895600"/>
              <a:chExt cx="171450" cy="1524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439150" y="2943225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0"/>
                    </a:moveTo>
                    <a:lnTo>
                      <a:pt x="28575" y="28575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2D6FE0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486775" y="30003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2D6FE0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91525" y="2895600"/>
                <a:ext cx="1714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33350"/>
                    </a:lnTo>
                    <a:cubicBezTo>
                      <a:pt x="171450" y="143871"/>
                      <a:pt x="162921" y="152400"/>
                      <a:pt x="15240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D6FE0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8699182" y="2900839"/>
              <a:ext cx="15051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8DFE8"/>
                  </a:solidFill>
                  <a:latin typeface="Arial"/>
                  <a:ea typeface="SimHei"/>
                  <a:cs typeface="Arial"/>
                </a:rPr>
                <a:t>Extractor 提取器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703945" y="3141345"/>
              <a:ext cx="8149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extractor.py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49615" y="3410902"/>
              <a:ext cx="18608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从 TileLang 源码通过 Python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349615" y="3601402"/>
              <a:ext cx="1839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AST 分析自动提取 CIM-TileIR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49615" y="3791902"/>
              <a:ext cx="21969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识别 T.gemm、T.alloc_shared 等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571500" y="4705350"/>
            <a:ext cx="3524250" cy="1857375"/>
            <a:chOff x="571500" y="4705350"/>
            <a:chExt cx="3524250" cy="1857375"/>
          </a:xfrm>
        </p:grpSpPr>
        <p:sp>
          <p:nvSpPr>
            <p:cNvPr id="86" name="Rectangle 86"/>
            <p:cNvSpPr/>
            <p:nvPr/>
          </p:nvSpPr>
          <p:spPr>
            <a:xfrm>
              <a:off x="571500" y="4705350"/>
              <a:ext cx="3524250" cy="1857375"/>
            </a:xfrm>
            <a:prstGeom prst="roundRect">
              <a:avLst>
                <a:gd name="adj" fmla="val 4103"/>
              </a:avLst>
            </a:prstGeom>
            <a:solidFill>
              <a:srgbClr val="111D32"/>
            </a:solidFill>
            <a:ln w="9525">
              <a:solidFill>
                <a:srgbClr val="1E3350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571500" y="4705350"/>
              <a:ext cx="3524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D6FE0"/>
                </a:gs>
                <a:gs pos="100000">
                  <a:srgbClr val="4DA8FF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876300" y="4972050"/>
              <a:ext cx="152400" cy="171450"/>
              <a:chOff x="876300" y="4972050"/>
              <a:chExt cx="152400" cy="17145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876300" y="4972050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F0A060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76300" y="5000625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F0A060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76300" y="5057775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F0A060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174432" y="498681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8DFE8"/>
                  </a:solidFill>
                  <a:latin typeface="Arial"/>
                  <a:ea typeface="SimHei"/>
                  <a:cs typeface="Arial"/>
                </a:rPr>
                <a:t>Golem 硬件约束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79195" y="5227320"/>
              <a:ext cx="1307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golem_constraints.py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24865" y="549687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Golem 硬件后端特定约束校验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24865" y="5687378"/>
              <a:ext cx="21339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dtype=int32/fp32, row-major,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24865" y="587787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禁止转置，Tile 尺寸匹配硬件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4333875" y="4705350"/>
            <a:ext cx="3524250" cy="1857375"/>
            <a:chOff x="4333875" y="4705350"/>
            <a:chExt cx="3524250" cy="1857375"/>
          </a:xfrm>
        </p:grpSpPr>
        <p:sp>
          <p:nvSpPr>
            <p:cNvPr id="98" name="Rectangle 98"/>
            <p:cNvSpPr/>
            <p:nvPr/>
          </p:nvSpPr>
          <p:spPr>
            <a:xfrm>
              <a:off x="4333875" y="4705350"/>
              <a:ext cx="3524250" cy="1857375"/>
            </a:xfrm>
            <a:prstGeom prst="roundRect">
              <a:avLst>
                <a:gd name="adj" fmla="val 4103"/>
              </a:avLst>
            </a:prstGeom>
            <a:solidFill>
              <a:srgbClr val="111D32"/>
            </a:solidFill>
            <a:ln w="9525">
              <a:solidFill>
                <a:srgbClr val="1E3350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4333875" y="4705350"/>
              <a:ext cx="3524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D6FE0"/>
                </a:gs>
                <a:gs pos="100000">
                  <a:srgbClr val="4DA8FF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4648200" y="5000625"/>
              <a:ext cx="133350" cy="114300"/>
              <a:chOff x="4648200" y="5000625"/>
              <a:chExt cx="133350" cy="1143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4648200" y="505777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D6FE0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4724400" y="50577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D6FE0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4724400" y="50006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2D6FE0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4936808" y="4986814"/>
              <a:ext cx="14516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8DFE8"/>
                  </a:solidFill>
                  <a:latin typeface="Arial"/>
                  <a:ea typeface="SimHei"/>
                  <a:cs typeface="Arial"/>
                </a:rPr>
                <a:t>Golem SST 导出器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4941570" y="5227320"/>
              <a:ext cx="1138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golem_exporter.py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4587240" y="54968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生成三类输出工件：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4587240" y="5687378"/>
              <a:ext cx="20009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golem_sst.env / 操作描述符 /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4587240" y="587787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环境变量映射文档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8096250" y="4705350"/>
            <a:ext cx="3524250" cy="1857375"/>
            <a:chOff x="8096250" y="4705350"/>
            <a:chExt cx="3524250" cy="1857375"/>
          </a:xfrm>
        </p:grpSpPr>
        <p:sp>
          <p:nvSpPr>
            <p:cNvPr id="110" name="Rectangle 110"/>
            <p:cNvSpPr/>
            <p:nvPr/>
          </p:nvSpPr>
          <p:spPr>
            <a:xfrm>
              <a:off x="8096250" y="4705350"/>
              <a:ext cx="3524250" cy="1857375"/>
            </a:xfrm>
            <a:prstGeom prst="roundRect">
              <a:avLst>
                <a:gd name="adj" fmla="val 4103"/>
              </a:avLst>
            </a:prstGeom>
            <a:solidFill>
              <a:srgbClr val="111D32"/>
            </a:solidFill>
            <a:ln w="9525">
              <a:solidFill>
                <a:srgbClr val="1E3350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096250" y="4705350"/>
              <a:ext cx="3524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D6FE0"/>
                </a:gs>
                <a:gs pos="100000">
                  <a:srgbClr val="4DA8FF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18" name="Group 118"/>
            <p:cNvGrpSpPr/>
            <p:nvPr/>
          </p:nvGrpSpPr>
          <p:grpSpPr>
            <a:xfrm>
              <a:off x="8410575" y="4981575"/>
              <a:ext cx="142875" cy="152400"/>
              <a:chOff x="8410575" y="4981575"/>
              <a:chExt cx="142875" cy="1524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8410575" y="50958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60C0A0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8410575" y="49815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60C0A0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8505825" y="49815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60C0A0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429625" y="501967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60C0A0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8448675" y="5048250"/>
                <a:ext cx="762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">
                    <a:moveTo>
                      <a:pt x="0" y="66675"/>
                    </a:moveTo>
                    <a:lnTo>
                      <a:pt x="57150" y="66675"/>
                    </a:lnTo>
                    <a:cubicBezTo>
                      <a:pt x="67671" y="66675"/>
                      <a:pt x="76200" y="58146"/>
                      <a:pt x="76200" y="47625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60C0A0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8496300" y="5048250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</a:path>
                </a:pathLst>
              </a:custGeom>
              <a:noFill/>
              <a:ln w="19050">
                <a:solidFill>
                  <a:srgbClr val="60C0A0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8699182" y="4986814"/>
              <a:ext cx="14605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8DFE8"/>
                  </a:solidFill>
                  <a:latin typeface="Arial"/>
                  <a:ea typeface="SimHei"/>
                  <a:cs typeface="Arial"/>
                </a:rPr>
                <a:t>Golem 事件规划器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8703945" y="5227320"/>
              <a:ext cx="1439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AA"/>
                  </a:solidFill>
                  <a:latin typeface="Consolas"/>
                  <a:ea typeface="Microsoft YaHei"/>
                  <a:cs typeface="Consolas"/>
                </a:rPr>
                <a:t>golem_event_planner.py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349615" y="5496878"/>
              <a:ext cx="1818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Tile → 宏任务 → Worker 核心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349615" y="568737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数据节点分配与内存地址计算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349615" y="587787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Golem 运行时语义事件序列</a:t>
              </a:r>
            </a:p>
          </p:txBody>
        </p:sp>
      </p:grpSp>
      <p:sp>
        <p:nvSpPr>
          <p:cNvPr id="125" name="TextBox 125"/>
          <p:cNvSpPr txBox="1"/>
          <p:nvPr/>
        </p:nvSpPr>
        <p:spPr>
          <a:xfrm>
            <a:off x="11477054" y="66465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56677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1" grpId="0"/>
      <p:bldP spid="64" grpId="0"/>
      <p:bldP spid="73" grpId="0"/>
      <p:bldP spid="85" grpId="0"/>
      <p:bldP spid="97" grpId="0"/>
      <p:bldP spid="109" grpId="0"/>
      <p:bldP spid="1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D6FE0">
                  <a:alpha val="5000"/>
                </a:srgbClr>
              </a:gs>
              <a:gs pos="100000">
                <a:srgbClr val="0A16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35330" y="344805"/>
            <a:ext cx="5026533" cy="769620"/>
            <a:chOff x="735330" y="344805"/>
            <a:chExt cx="5026533" cy="769620"/>
          </a:xfrm>
        </p:grpSpPr>
        <p:sp>
          <p:nvSpPr>
            <p:cNvPr id="4" name="TextBox 4"/>
            <p:cNvSpPr txBox="1"/>
            <p:nvPr/>
          </p:nvSpPr>
          <p:spPr>
            <a:xfrm>
              <a:off x="735330" y="344805"/>
              <a:ext cx="2699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8DFE8"/>
                  </a:solidFill>
                  <a:latin typeface="Arial"/>
                  <a:ea typeface="SimHei"/>
                  <a:cs typeface="Arial"/>
                </a:rPr>
                <a:t>设计原则与关键特性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685800"/>
              <a:ext cx="4762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D6FE0"/>
                </a:gs>
                <a:gs pos="100000">
                  <a:srgbClr val="4DA8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6760" y="870585"/>
              <a:ext cx="50151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接口契约优先、关注点分离、安全第一 — 三大原则构成项目的技术基石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E3350">
                <a:alpha val="40000"/>
              </a:srgbClr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990600" y="1514475"/>
            <a:ext cx="7305675" cy="771525"/>
            <a:chOff x="990600" y="1514475"/>
            <a:chExt cx="7305675" cy="771525"/>
          </a:xfrm>
        </p:grpSpPr>
        <p:sp>
          <p:nvSpPr>
            <p:cNvPr id="9" name="Ellipse 9"/>
            <p:cNvSpPr/>
            <p:nvPr/>
          </p:nvSpPr>
          <p:spPr>
            <a:xfrm>
              <a:off x="990600" y="1514475"/>
              <a:ext cx="685800" cy="685800"/>
            </a:xfrm>
            <a:prstGeom prst="ellipse">
              <a:avLst/>
            </a:prstGeom>
            <a:noFill/>
            <a:ln w="14288">
              <a:solidFill>
                <a:srgbClr val="2D6FE0">
                  <a:alpha val="50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25970" y="1697355"/>
              <a:ext cx="2150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8DFE8"/>
                  </a:solidFill>
                  <a:effectLst>
                    <a:glow rad="38100">
                      <a:srgbClr val="2D6FE0">
                        <a:alpha val="30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79295" y="15173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8DFE8"/>
                  </a:solidFill>
                  <a:latin typeface="Arial"/>
                  <a:ea typeface="SimHei"/>
                  <a:cs typeface="Arial"/>
                </a:rPr>
                <a:t>接口契约优先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85010" y="1823085"/>
              <a:ext cx="57671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CIM-TileIR 是所有前端与后端的唯一接口。前端不直接生成 GOLEM_* 环境变量，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85010" y="2042160"/>
              <a:ext cx="63112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后端不依赖任何前端语法 — 任何语言只需输出符合 Schema 的 JSON 即可接入硬件仿真。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2000250" y="2476500"/>
            <a:ext cx="9429750" cy="9525"/>
          </a:xfrm>
          <a:custGeom>
            <a:avLst/>
            <a:gdLst/>
            <a:ahLst/>
            <a:cxnLst/>
            <a:rect l="l" t="t" r="r" b="b"/>
            <a:pathLst>
              <a:path w="9429750" h="9525">
                <a:moveTo>
                  <a:pt x="0" y="0"/>
                </a:moveTo>
                <a:lnTo>
                  <a:pt x="9429750" y="0"/>
                </a:lnTo>
              </a:path>
            </a:pathLst>
          </a:custGeom>
          <a:noFill/>
          <a:ln w="4762">
            <a:solidFill>
              <a:srgbClr val="1E3350">
                <a:alpha val="30000"/>
              </a:srgbClr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990600" y="2895600"/>
            <a:ext cx="7753731" cy="771525"/>
            <a:chOff x="990600" y="2895600"/>
            <a:chExt cx="7753731" cy="771525"/>
          </a:xfrm>
        </p:grpSpPr>
        <p:sp>
          <p:nvSpPr>
            <p:cNvPr id="16" name="Ellipse 16"/>
            <p:cNvSpPr/>
            <p:nvPr/>
          </p:nvSpPr>
          <p:spPr>
            <a:xfrm>
              <a:off x="990600" y="2895600"/>
              <a:ext cx="685800" cy="685800"/>
            </a:xfrm>
            <a:prstGeom prst="ellipse">
              <a:avLst/>
            </a:prstGeom>
            <a:noFill/>
            <a:ln w="14288">
              <a:solidFill>
                <a:srgbClr val="60C0A0">
                  <a:alpha val="5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25970" y="3078480"/>
              <a:ext cx="2150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8DFE8"/>
                  </a:solidFill>
                  <a:effectLst>
                    <a:glow rad="38100">
                      <a:srgbClr val="2D6FE0">
                        <a:alpha val="30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79295" y="28984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8DFE8"/>
                  </a:solidFill>
                  <a:latin typeface="Arial"/>
                  <a:ea typeface="SimHei"/>
                  <a:cs typeface="Arial"/>
                </a:rPr>
                <a:t>关注点分离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85010" y="3204210"/>
              <a:ext cx="67593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项目中枢（codegen_sstnoc）与源码（tilelang_cim/）分离，代码生成工件与硬件仓库分离，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85010" y="3423285"/>
              <a:ext cx="57992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临时文件独立存放于 /data4/jjgong/tmp/ — 每一层只关心自己的输入输出契约。</a:t>
              </a:r>
            </a:p>
          </p:txBody>
        </p:sp>
      </p:grpSp>
      <p:sp>
        <p:nvSpPr>
          <p:cNvPr id="22" name="Line 22"/>
          <p:cNvSpPr/>
          <p:nvPr/>
        </p:nvSpPr>
        <p:spPr>
          <a:xfrm>
            <a:off x="2000250" y="3857625"/>
            <a:ext cx="9429750" cy="9525"/>
          </a:xfrm>
          <a:custGeom>
            <a:avLst/>
            <a:gdLst/>
            <a:ahLst/>
            <a:cxnLst/>
            <a:rect l="l" t="t" r="r" b="b"/>
            <a:pathLst>
              <a:path w="9429750" h="9525">
                <a:moveTo>
                  <a:pt x="0" y="0"/>
                </a:moveTo>
                <a:lnTo>
                  <a:pt x="9429750" y="0"/>
                </a:lnTo>
              </a:path>
            </a:pathLst>
          </a:custGeom>
          <a:noFill/>
          <a:ln w="4762">
            <a:solidFill>
              <a:srgbClr val="1E3350">
                <a:alpha val="30000"/>
              </a:srgbClr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990600" y="4276725"/>
            <a:ext cx="6849618" cy="771525"/>
            <a:chOff x="990600" y="4276725"/>
            <a:chExt cx="6849618" cy="771525"/>
          </a:xfrm>
        </p:grpSpPr>
        <p:sp>
          <p:nvSpPr>
            <p:cNvPr id="23" name="Ellipse 23"/>
            <p:cNvSpPr/>
            <p:nvPr/>
          </p:nvSpPr>
          <p:spPr>
            <a:xfrm>
              <a:off x="990600" y="4276725"/>
              <a:ext cx="685800" cy="685800"/>
            </a:xfrm>
            <a:prstGeom prst="ellipse">
              <a:avLst/>
            </a:prstGeom>
            <a:noFill/>
            <a:ln w="14288">
              <a:solidFill>
                <a:srgbClr val="F0A060">
                  <a:alpha val="50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25970" y="4459605"/>
              <a:ext cx="2150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8DFE8"/>
                  </a:solidFill>
                  <a:effectLst>
                    <a:glow rad="38100">
                      <a:srgbClr val="2D6FE0">
                        <a:alpha val="30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79295" y="42795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8DFE8"/>
                  </a:solidFill>
                  <a:latin typeface="Arial"/>
                  <a:ea typeface="SimHei"/>
                  <a:cs typeface="Arial"/>
                </a:rPr>
                <a:t>安全第一的工程实践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85010" y="4585335"/>
              <a:ext cx="58552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SST 仿真默认 Dry-Run 模式防止意外长时间仿真；无硬编码工具链路径，所有路径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85010" y="4804410"/>
              <a:ext cx="51271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来自用户 Shell 环境；静态审计脚本确保硬件侧解耦入口点完整且自洽。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2000250" y="5238750"/>
            <a:ext cx="9429750" cy="9525"/>
          </a:xfrm>
          <a:custGeom>
            <a:avLst/>
            <a:gdLst/>
            <a:ahLst/>
            <a:cxnLst/>
            <a:rect l="l" t="t" r="r" b="b"/>
            <a:pathLst>
              <a:path w="9429750" h="9525">
                <a:moveTo>
                  <a:pt x="0" y="0"/>
                </a:moveTo>
                <a:lnTo>
                  <a:pt x="9429750" y="0"/>
                </a:lnTo>
              </a:path>
            </a:pathLst>
          </a:custGeom>
          <a:noFill/>
          <a:ln w="4762">
            <a:solidFill>
              <a:srgbClr val="1E3350">
                <a:alpha val="30000"/>
              </a:srgbClr>
            </a:solidFill>
          </a:ln>
        </p:spPr>
      </p:sp>
      <p:grpSp>
        <p:nvGrpSpPr>
          <p:cNvPr id="34" name="Group 34"/>
          <p:cNvGrpSpPr/>
          <p:nvPr/>
        </p:nvGrpSpPr>
        <p:grpSpPr>
          <a:xfrm>
            <a:off x="2000250" y="5524500"/>
            <a:ext cx="9429750" cy="597694"/>
            <a:chOff x="2000250" y="5524500"/>
            <a:chExt cx="9429750" cy="597694"/>
          </a:xfrm>
        </p:grpSpPr>
        <p:sp>
          <p:nvSpPr>
            <p:cNvPr id="30" name="Rectangle 30"/>
            <p:cNvSpPr/>
            <p:nvPr/>
          </p:nvSpPr>
          <p:spPr>
            <a:xfrm>
              <a:off x="2000250" y="5524500"/>
              <a:ext cx="9429750" cy="571500"/>
            </a:xfrm>
            <a:prstGeom prst="roundRect">
              <a:avLst>
                <a:gd name="adj" fmla="val 10000"/>
              </a:avLst>
            </a:prstGeom>
            <a:solidFill>
              <a:srgbClr val="111D32"/>
            </a:solidFill>
            <a:ln w="9525">
              <a:gradFill>
                <a:gsLst>
                  <a:gs pos="0">
                    <a:srgbClr val="2D6FE0">
                      <a:alpha val="30000"/>
                    </a:srgbClr>
                  </a:gs>
                  <a:gs pos="100000">
                    <a:srgbClr val="4DA8FF">
                      <a:alpha val="10000"/>
                    </a:srgbClr>
                  </a:gs>
                </a:gsLst>
                <a:lin ang="2700000" scaled="1"/>
              </a:gra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325688" y="5751512"/>
              <a:ext cx="119063" cy="79375"/>
            </a:xfrm>
            <a:custGeom>
              <a:avLst/>
              <a:gdLst/>
              <a:ahLst/>
              <a:cxnLst/>
              <a:rect l="l" t="t" r="r" b="b"/>
              <a:pathLst>
                <a:path w="119063" h="79375">
                  <a:moveTo>
                    <a:pt x="0" y="39687"/>
                  </a:moveTo>
                  <a:lnTo>
                    <a:pt x="39688" y="79375"/>
                  </a:lnTo>
                  <a:lnTo>
                    <a:pt x="119063" y="0"/>
                  </a:lnTo>
                </a:path>
              </a:pathLst>
            </a:custGeom>
            <a:noFill/>
            <a:ln w="19050">
              <a:solidFill>
                <a:srgbClr val="60C0A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605088" y="5726906"/>
              <a:ext cx="5174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8DFE8"/>
                  </a:solidFill>
                  <a:latin typeface="Arial"/>
                  <a:ea typeface="Microsoft YaHei"/>
                  <a:cs typeface="Arial"/>
                </a:rPr>
                <a:t>完整的测试验证体系（单元测试 + 集成测试 + 验证脚本）保障代码生成可靠性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06992" y="5924074"/>
              <a:ext cx="4841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AA"/>
                  </a:solidFill>
                  <a:latin typeface="Arial"/>
                  <a:ea typeface="Microsoft YaHei"/>
                  <a:cs typeface="Arial"/>
                </a:rPr>
                <a:t>pytest 测试套件 · 硬件契约静态审计 · 工件离线验证 · 契约与事件计划一致性检查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477054" y="66465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56677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8" grpId="0"/>
      <p:bldP spid="3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2026-06-17T10:47:19Z</dcterms:created>
  <dcterms:modified xsi:type="dcterms:W3CDTF">2026-06-17T10:47:19Z</dcterms:modified>
  <cp:category/>
  <cp:contentStatus/>
</cp:coreProperties>
</file>