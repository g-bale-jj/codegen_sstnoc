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lideSizeCx="12192000" slideSizeCy="6858000" notesSizeCx="6858000" notesSizeCy="9144000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80000" y="260000"/>
            <a:ext cx="110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600" b="1">
                <a:solidFill>
                  <a:srgbClr val="1B1B1B"/>
                </a:solidFill>
              </a:rPr>
              <a:t>SST 首版 Codegen 技术路线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20000" y="95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150" b="0">
                <a:solidFill>
                  <a:srgbClr val="4F5B66"/>
                </a:solidFill>
              </a:rPr>
              <a:t>目标：仅修改 tilelang，在识别 SST 后端目标后生成包含 RISC-V 自定义指令痕迹的 C 代码</a:t>
            </a:r>
          </a:p>
        </p:txBody>
      </p:sp>
      <p:sp>
        <p:nvSpPr>
          <p:cNvPr id="4" name="Box1"/>
          <p:cNvSpPr/>
          <p:nvPr/>
        </p:nvSpPr>
        <p:spPr>
          <a:xfrm>
            <a:off x="430000" y="1450000"/>
            <a:ext cx="2700000" cy="345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B9A48B"/>
            </a:solidFill>
          </a:ln>
        </p:spPr>
        <p:txBody>
          <a:bodyPr wrap="square" lIns="137160" tIns="91440" rIns="137160" bIns="91440"/>
          <a:lstStyle/>
          <a:p>
            <a:r>
              <a:rPr lang="zh-CN" sz="1500" b="1">
                <a:solidFill>
                  <a:srgbClr val="A24A2A"/>
                </a:solidFill>
              </a:rPr>
              <a:t>1. 输入与目标标准化</a:t>
            </a:r>
          </a:p>
          <a:p>
            <a:r>
              <a:rPr lang="zh-CN" sz="1180" b="0">
                <a:solidFill>
                  <a:srgbClr val="222222"/>
                </a:solidFill>
              </a:rPr>
              <a:t>• 用户侧 target 采用 “c + SST 标记”</a:t>
            </a:r>
          </a:p>
          <a:p>
            <a:r>
              <a:rPr lang="zh-CN" sz="1180" b="0">
                <a:solidFill>
                  <a:srgbClr val="222222"/>
                </a:solidFill>
              </a:rPr>
              <a:t>• 不引入新的 target kind</a:t>
            </a:r>
          </a:p>
          <a:p>
            <a:r>
              <a:rPr lang="zh-CN" sz="1180" b="0">
                <a:solidFill>
                  <a:srgbClr val="222222"/>
                </a:solidFill>
              </a:rPr>
              <a:t>• 在 target.py 中统一标准化</a:t>
            </a:r>
          </a:p>
          <a:p>
            <a:r>
              <a:rPr lang="zh-CN" sz="1180" b="0">
                <a:solidFill>
                  <a:srgbClr val="222222"/>
                </a:solidFill>
              </a:rPr>
              <a:t>• 新增 normalize_sst_target / is_sst_target</a:t>
            </a:r>
          </a:p>
          <a:p>
            <a:r>
              <a:rPr lang="zh-CN" sz="1180" b="0">
                <a:solidFill>
                  <a:srgbClr val="222222"/>
                </a:solidFill>
              </a:rPr>
              <a:t>• 保持 target.kind.name == "c"</a:t>
            </a:r>
          </a:p>
        </p:txBody>
      </p:sp>
      <p:sp>
        <p:nvSpPr>
          <p:cNvPr id="5" name="Box2"/>
          <p:cNvSpPr/>
          <p:nvPr/>
        </p:nvSpPr>
        <p:spPr>
          <a:xfrm>
            <a:off x="3550000" y="1450000"/>
            <a:ext cx="3600000" cy="345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B9A48B"/>
            </a:solidFill>
          </a:ln>
        </p:spPr>
        <p:txBody>
          <a:bodyPr wrap="square" lIns="137160" tIns="91440" rIns="137160" bIns="91440"/>
          <a:lstStyle/>
          <a:p>
            <a:r>
              <a:rPr lang="zh-CN" sz="1500" b="1">
                <a:solidFill>
                  <a:srgbClr val="A24A2A"/>
                </a:solidFill>
              </a:rPr>
              <a:t>2. 复用 tilelang 现有编译链</a:t>
            </a:r>
          </a:p>
          <a:p>
            <a:r>
              <a:rPr lang="zh-CN" sz="1180" b="0">
                <a:solidFill>
                  <a:srgbClr val="222222"/>
                </a:solidFill>
              </a:rPr>
              <a:t>• lower.py 继续走现有 C backend</a:t>
            </a:r>
          </a:p>
          <a:p>
            <a:r>
              <a:rPr lang="zh-CN" sz="1180" b="0">
                <a:solidFill>
                  <a:srgbClr val="222222"/>
                </a:solidFill>
              </a:rPr>
              <a:t>• 设备侧入口：target.build.tilelang_c</a:t>
            </a:r>
          </a:p>
          <a:p>
            <a:r>
              <a:rPr lang="zh-CN" sz="1180" b="0">
                <a:solidFill>
                  <a:srgbClr val="222222"/>
                </a:solidFill>
              </a:rPr>
              <a:t>• 核心落点：CodeGenTileLangC</a:t>
            </a:r>
          </a:p>
          <a:p>
            <a:r>
              <a:rPr lang="zh-CN" sz="1180" b="0">
                <a:solidFill>
                  <a:srgbClr val="222222"/>
                </a:solidFill>
              </a:rPr>
              <a:t>• 关键改动：VisitExpr_(CallNode)</a:t>
            </a:r>
          </a:p>
          <a:p>
            <a:r>
              <a:rPr lang="zh-CN" sz="1180" b="0">
                <a:solidFill>
                  <a:srgbClr val="222222"/>
                </a:solidFill>
              </a:rPr>
              <a:t>• 识别 call_extern("tl.sst.xxx", ...)</a:t>
            </a:r>
          </a:p>
        </p:txBody>
      </p:sp>
      <p:sp>
        <p:nvSpPr>
          <p:cNvPr id="6" name="Box3"/>
          <p:cNvSpPr/>
          <p:nvPr/>
        </p:nvSpPr>
        <p:spPr>
          <a:xfrm>
            <a:off x="7600000" y="1450000"/>
            <a:ext cx="3600000" cy="3450000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C76B3A"/>
            </a:solidFill>
          </a:ln>
        </p:spPr>
        <p:txBody>
          <a:bodyPr wrap="square" lIns="137160" tIns="91440" rIns="137160" bIns="91440"/>
          <a:lstStyle/>
          <a:p>
            <a:r>
              <a:rPr lang="zh-CN" sz="1500" b="1">
                <a:solidFill>
                  <a:srgbClr val="A24A2A"/>
                </a:solidFill>
              </a:rPr>
              <a:t>3. SST 指令承载与验证</a:t>
            </a:r>
          </a:p>
          <a:p>
            <a:r>
              <a:rPr lang="zh-CN" sz="1180" b="0">
                <a:solidFill>
                  <a:srgbClr val="222222"/>
                </a:solidFill>
              </a:rPr>
              <a:t>• 首版不直接生成复杂 inline asm</a:t>
            </a:r>
          </a:p>
          <a:p>
            <a:r>
              <a:rPr lang="zh-CN" sz="1180" b="0">
                <a:solidFill>
                  <a:srgbClr val="222222"/>
                </a:solidFill>
              </a:rPr>
              <a:t>• 先输出宏/内联函数形式的 C 代码</a:t>
            </a:r>
          </a:p>
          <a:p>
            <a:r>
              <a:rPr lang="zh-CN" sz="1180" b="0">
                <a:solidFill>
                  <a:srgbClr val="222222"/>
                </a:solidFill>
              </a:rPr>
              <a:t>• 示例：SST_RISCV_CUSTOM_OP(...)</a:t>
            </a:r>
          </a:p>
          <a:p>
            <a:r>
              <a:rPr lang="zh-CN" sz="1180" b="0">
                <a:solidFill>
                  <a:srgbClr val="222222"/>
                </a:solidFill>
              </a:rPr>
              <a:t>• 测试重点：校验生成源码字符串</a:t>
            </a:r>
          </a:p>
          <a:p>
            <a:r>
              <a:rPr lang="zh-CN" sz="1180" b="0">
                <a:solidFill>
                  <a:srgbClr val="222222"/>
                </a:solidFill>
              </a:rPr>
              <a:t>• TileOPs 当前只作为 GEMM 联调参考</a:t>
            </a:r>
          </a:p>
        </p:txBody>
      </p:sp>
      <p:sp>
        <p:nvSpPr>
          <p:cNvPr id="7" name="Arrow1"/>
          <p:cNvSpPr/>
          <p:nvPr/>
        </p:nvSpPr>
        <p:spPr>
          <a:xfrm>
            <a:off x="3150000" y="2850000"/>
            <a:ext cx="250000" cy="320000"/>
          </a:xfrm>
          <a:prstGeom prst="chevron">
            <a:avLst/>
          </a:prstGeom>
          <a:solidFill>
            <a:srgbClr val="C76B3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Arrow2"/>
          <p:cNvSpPr/>
          <p:nvPr/>
        </p:nvSpPr>
        <p:spPr>
          <a:xfrm>
            <a:off x="7200000" y="2850000"/>
            <a:ext cx="250000" cy="320000"/>
          </a:xfrm>
          <a:prstGeom prst="chevron">
            <a:avLst/>
          </a:prstGeom>
          <a:solidFill>
            <a:srgbClr val="C76B3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ttom"/>
          <p:cNvSpPr txBox="1"/>
          <p:nvPr/>
        </p:nvSpPr>
        <p:spPr>
          <a:xfrm>
            <a:off x="520000" y="560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120" b="0">
                <a:solidFill>
                  <a:srgbClr val="222222"/>
                </a:solidFill>
              </a:rPr>
              <a:t>实施顺序：target 标准化 → SST 判断辅助函数 → C backend 分支输出 → 最小 codegen 字符串测试 → 后续接入 TileOPs GEMM 用例联调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Theme">
  <a:themeElements>
    <a:clrScheme name="Codex">
      <a:dk1>
        <a:srgbClr val="1B1B1B"/>
      </a:dk1>
      <a:lt1>
        <a:srgbClr val="FFFFFF"/>
      </a:lt1>
      <a:dk2>
        <a:srgbClr val="4F5B66"/>
      </a:dk2>
      <a:lt2>
        <a:srgbClr val="F7F1E8"/>
      </a:lt2>
      <a:accent1>
        <a:srgbClr val="C76B3A"/>
      </a:accent1>
      <a:accent2>
        <a:srgbClr val="A24A2A"/>
      </a:accent2>
      <a:accent3>
        <a:srgbClr val="B9A48B"/>
      </a:accent3>
      <a:accent4>
        <a:srgbClr val="6C7A89"/>
      </a:accent4>
      <a:accent5>
        <a:srgbClr val="8C9B6E"/>
      </a:accent5>
      <a:accent6>
        <a:srgbClr val="B75E5E"/>
      </a:accent6>
      <a:hlink>
        <a:srgbClr val="0563C1"/>
      </a:hlink>
      <a:folHlink>
        <a:srgbClr val="954F72"/>
      </a:folHlink>
    </a:clrScheme>
    <a:fontScheme name="Codex">
      <a:majorFont>
        <a:latin typeface="Aptos Display"/>
      </a:majorFont>
      <a:minorFont>
        <a:latin typeface="Aptos"/>
      </a:minorFont>
    </a:fontScheme>
    <a:fmtScheme name="Codex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/>
      </a:effectStyleLst>
      <a:bgFillStyleLst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Slides>1</Slides>
  <Notes>0</Notes>
  <HiddenSlides>0</HiddenSlides>
  <MMClips>0</MMClip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SST 首版 Codegen 技术路线</dc:title>
  <dc:creator>OpenAI Codex</dc:creator>
  <cp:lastModifiedBy>OpenAI Codex</cp:lastModifiedBy>
</cp:coreProperties>
</file>